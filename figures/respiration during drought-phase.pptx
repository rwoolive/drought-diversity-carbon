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8"/>
  </p:normalViewPr>
  <p:slideViewPr>
    <p:cSldViewPr snapToGrid="0">
      <p:cViewPr>
        <p:scale>
          <a:sx n="86" d="100"/>
          <a:sy n="86" d="100"/>
        </p:scale>
        <p:origin x="142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rachelwooliver/Library/CloudStorage/GoogleDrive-rwoolive@utk.edu/My%20Drive/*1_UTK-postdoc_2020-/2b_Incubation_cover%20crop%20diversity/entered%20data/3_diversity%20incubation%20setup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rachelwooliver/Library/CloudStorage/GoogleDrive-rwoolive@utk.edu/My%20Drive/*1_UTK-postdoc_2020-/2b_Incubation_cover%20crop%20diversity/entered%20data/3_diversity%20incubation%20setup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rachelwooliver/Library/CloudStorage/GoogleDrive-rwoolive@utk.edu/My%20Drive/*1_UTK-postdoc_2020-/2b_Incubation_cover%20crop%20diversity/entered%20data/3_diversity%20incubation%20setup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rachelwooliver/Library/CloudStorage/GoogleDrive-rwoolive@utk.edu/My%20Drive/*1_UTK-postdoc_2020-/2b_Incubation_cover%20crop%20diversity/entered%20data/3_diversity%20incubation%20setup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rachelwooliver/Library/CloudStorage/GoogleDrive-rwoolive@utk.edu/My%20Drive/*1_UTK-postdoc_2020-/2b_Incubation_cover%20crop%20diversity/entered%20data/3_diversity%20incubation%20setup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solidFill>
                  <a:sysClr val="windowText" lastClr="000000"/>
                </a:solidFill>
              </a:rPr>
              <a:t>CO</a:t>
            </a:r>
            <a:r>
              <a:rPr lang="en-US" sz="1400" b="1" baseline="-25000">
                <a:solidFill>
                  <a:sysClr val="windowText" lastClr="000000"/>
                </a:solidFill>
              </a:rPr>
              <a:t>2</a:t>
            </a:r>
            <a:r>
              <a:rPr lang="en-US" sz="1400" b="1" baseline="0">
                <a:solidFill>
                  <a:sysClr val="windowText" lastClr="000000"/>
                </a:solidFill>
              </a:rPr>
              <a:t> Emission: Recovery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3AF-6543-B890-283134DD485C}"/>
              </c:ext>
            </c:extLst>
          </c:dPt>
          <c:dPt>
            <c:idx val="6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3AF-6543-B890-283134DD485C}"/>
              </c:ext>
            </c:extLst>
          </c:dPt>
          <c:dPt>
            <c:idx val="7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3AF-6543-B890-283134DD485C}"/>
              </c:ext>
            </c:extLst>
          </c:dPt>
          <c:dPt>
            <c:idx val="8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3AF-6543-B890-283134DD485C}"/>
              </c:ext>
            </c:extLst>
          </c:dPt>
          <c:dPt>
            <c:idx val="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3AF-6543-B890-283134DD485C}"/>
              </c:ext>
            </c:extLst>
          </c:dPt>
          <c:errBars>
            <c:errBarType val="both"/>
            <c:errValType val="cust"/>
            <c:noEndCap val="0"/>
            <c:plus>
              <c:numRef>
                <c:f>'CO2 7-5-23'!$AQ$44:$AQ$53</c:f>
                <c:numCache>
                  <c:formatCode>General</c:formatCode>
                  <c:ptCount val="10"/>
                  <c:pt idx="0">
                    <c:v>0.15922396354622614</c:v>
                  </c:pt>
                  <c:pt idx="1">
                    <c:v>1.4427768628905388E-2</c:v>
                  </c:pt>
                  <c:pt idx="2">
                    <c:v>1.2276611764986066E-2</c:v>
                  </c:pt>
                  <c:pt idx="3">
                    <c:v>5.984905321258225E-2</c:v>
                  </c:pt>
                  <c:pt idx="4">
                    <c:v>6.1525207133075181E-2</c:v>
                  </c:pt>
                  <c:pt idx="5">
                    <c:v>3.387567334588068E-2</c:v>
                  </c:pt>
                  <c:pt idx="6">
                    <c:v>8.4702501342756205E-3</c:v>
                  </c:pt>
                  <c:pt idx="7">
                    <c:v>4.295345021896866E-2</c:v>
                  </c:pt>
                  <c:pt idx="8">
                    <c:v>5.9882099438717508E-2</c:v>
                  </c:pt>
                  <c:pt idx="9">
                    <c:v>3.120567252600568E-2</c:v>
                  </c:pt>
                </c:numCache>
              </c:numRef>
            </c:plus>
            <c:minus>
              <c:numRef>
                <c:f>'CO2 7-5-23'!$AQ$44:$AQ$53</c:f>
                <c:numCache>
                  <c:formatCode>General</c:formatCode>
                  <c:ptCount val="10"/>
                  <c:pt idx="0">
                    <c:v>0.15922396354622614</c:v>
                  </c:pt>
                  <c:pt idx="1">
                    <c:v>1.4427768628905388E-2</c:v>
                  </c:pt>
                  <c:pt idx="2">
                    <c:v>1.2276611764986066E-2</c:v>
                  </c:pt>
                  <c:pt idx="3">
                    <c:v>5.984905321258225E-2</c:v>
                  </c:pt>
                  <c:pt idx="4">
                    <c:v>6.1525207133075181E-2</c:v>
                  </c:pt>
                  <c:pt idx="5">
                    <c:v>3.387567334588068E-2</c:v>
                  </c:pt>
                  <c:pt idx="6">
                    <c:v>8.4702501342756205E-3</c:v>
                  </c:pt>
                  <c:pt idx="7">
                    <c:v>4.295345021896866E-2</c:v>
                  </c:pt>
                  <c:pt idx="8">
                    <c:v>5.9882099438717508E-2</c:v>
                  </c:pt>
                  <c:pt idx="9">
                    <c:v>3.120567252600568E-2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'CO2 7-5-23'!$AN$56:$AN$65</c:f>
              <c:strCache>
                <c:ptCount val="10"/>
                <c:pt idx="0">
                  <c:v>No residue</c:v>
                </c:pt>
                <c:pt idx="1">
                  <c:v>Wheat</c:v>
                </c:pt>
                <c:pt idx="2">
                  <c:v>Clover</c:v>
                </c:pt>
                <c:pt idx="3">
                  <c:v>Wheat-clover mix</c:v>
                </c:pt>
                <c:pt idx="4">
                  <c:v>Five-species mix</c:v>
                </c:pt>
                <c:pt idx="5">
                  <c:v>No residue</c:v>
                </c:pt>
                <c:pt idx="6">
                  <c:v>Wheat</c:v>
                </c:pt>
                <c:pt idx="7">
                  <c:v>Clover</c:v>
                </c:pt>
                <c:pt idx="8">
                  <c:v>Wheat-clover mix</c:v>
                </c:pt>
                <c:pt idx="9">
                  <c:v>Five-species mix</c:v>
                </c:pt>
              </c:strCache>
            </c:strRef>
          </c:cat>
          <c:val>
            <c:numRef>
              <c:f>'CO2 7-5-23'!$AO$56:$AO$65</c:f>
              <c:numCache>
                <c:formatCode>General</c:formatCode>
                <c:ptCount val="10"/>
                <c:pt idx="0">
                  <c:v>0.31834346910338379</c:v>
                </c:pt>
                <c:pt idx="1">
                  <c:v>1.2205659660354218</c:v>
                </c:pt>
                <c:pt idx="2">
                  <c:v>0.68347203822964853</c:v>
                </c:pt>
                <c:pt idx="3">
                  <c:v>0.88700684862883217</c:v>
                </c:pt>
                <c:pt idx="4">
                  <c:v>0.72418377288642977</c:v>
                </c:pt>
                <c:pt idx="5">
                  <c:v>0.33206549218974779</c:v>
                </c:pt>
                <c:pt idx="6">
                  <c:v>1.4887624966817479</c:v>
                </c:pt>
                <c:pt idx="7">
                  <c:v>0.83405426678279149</c:v>
                </c:pt>
                <c:pt idx="8">
                  <c:v>1.0330000957230829</c:v>
                </c:pt>
                <c:pt idx="9">
                  <c:v>0.88617906420333259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3AF-6543-B890-283134DD48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2"/>
        <c:axId val="545825920"/>
        <c:axId val="2112217904"/>
      </c:barChart>
      <c:catAx>
        <c:axId val="545825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2217904"/>
        <c:crosses val="autoZero"/>
        <c:auto val="1"/>
        <c:lblAlgn val="ctr"/>
        <c:lblOffset val="100"/>
        <c:noMultiLvlLbl val="0"/>
      </c:catAx>
      <c:valAx>
        <c:axId val="2112217904"/>
        <c:scaling>
          <c:orientation val="minMax"/>
          <c:max val="5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>
                    <a:solidFill>
                      <a:sysClr val="windowText" lastClr="000000"/>
                    </a:solidFill>
                  </a:rPr>
                  <a:t>CO</a:t>
                </a:r>
                <a:r>
                  <a:rPr lang="en-US" sz="1600" b="1" baseline="-25000">
                    <a:solidFill>
                      <a:sysClr val="windowText" lastClr="000000"/>
                    </a:solidFill>
                  </a:rPr>
                  <a:t>2</a:t>
                </a:r>
                <a:r>
                  <a:rPr lang="en-US" sz="1600" b="1">
                    <a:solidFill>
                      <a:sysClr val="windowText" lastClr="000000"/>
                    </a:solidFill>
                  </a:rPr>
                  <a:t>-C</a:t>
                </a:r>
                <a:r>
                  <a:rPr lang="en-US" sz="1600" b="1" baseline="0">
                    <a:solidFill>
                      <a:sysClr val="windowText" lastClr="000000"/>
                    </a:solidFill>
                  </a:rPr>
                  <a:t> (</a:t>
                </a:r>
                <a:r>
                  <a:rPr lang="en-US" sz="1600" b="1">
                    <a:solidFill>
                      <a:sysClr val="windowText" lastClr="000000"/>
                    </a:solidFill>
                  </a:rPr>
                  <a:t>µg-C g</a:t>
                </a:r>
                <a:r>
                  <a:rPr lang="en-US" sz="1600" b="1" baseline="30000">
                    <a:solidFill>
                      <a:sysClr val="windowText" lastClr="000000"/>
                    </a:solidFill>
                  </a:rPr>
                  <a:t>-1 </a:t>
                </a:r>
                <a:r>
                  <a:rPr lang="en-US" sz="1600" b="1">
                    <a:solidFill>
                      <a:sysClr val="windowText" lastClr="000000"/>
                    </a:solidFill>
                  </a:rPr>
                  <a:t>Dry soil hr</a:t>
                </a:r>
                <a:r>
                  <a:rPr lang="en-US" sz="1600" b="1" baseline="30000">
                    <a:solidFill>
                      <a:sysClr val="windowText" lastClr="000000"/>
                    </a:solidFill>
                  </a:rPr>
                  <a:t>-1</a:t>
                </a:r>
                <a:r>
                  <a:rPr lang="en-US" sz="1600" b="1">
                    <a:solidFill>
                      <a:sysClr val="windowText" lastClr="000000"/>
                    </a:solidFill>
                  </a:rPr>
                  <a:t>)</a:t>
                </a:r>
              </a:p>
            </c:rich>
          </c:tx>
          <c:layout>
            <c:manualLayout>
              <c:xMode val="edge"/>
              <c:yMode val="edge"/>
              <c:x val="1.3588964843406669E-2"/>
              <c:y val="0.2543205003638639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5825920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solidFill>
                  <a:sysClr val="windowText" lastClr="000000"/>
                </a:solidFill>
              </a:rPr>
              <a:t>CO</a:t>
            </a:r>
            <a:r>
              <a:rPr lang="en-US" sz="1400" b="1" baseline="-25000">
                <a:solidFill>
                  <a:sysClr val="windowText" lastClr="000000"/>
                </a:solidFill>
              </a:rPr>
              <a:t>2</a:t>
            </a:r>
            <a:r>
              <a:rPr lang="en-US" sz="1400" b="1" baseline="0">
                <a:solidFill>
                  <a:sysClr val="windowText" lastClr="000000"/>
                </a:solidFill>
              </a:rPr>
              <a:t> Emission: D</a:t>
            </a:r>
            <a:r>
              <a:rPr lang="en-US" sz="1400" b="1" i="0" u="none" strike="noStrike" kern="1200" spc="0" baseline="0">
                <a:solidFill>
                  <a:sysClr val="windowText" lastClr="000000"/>
                </a:solidFill>
              </a:rPr>
              <a:t>rought maximum</a:t>
            </a:r>
            <a:endParaRPr lang="en-US" sz="1400" b="1" baseline="0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C2A-264F-AA96-1E5C823673CF}"/>
              </c:ext>
            </c:extLst>
          </c:dPt>
          <c:dPt>
            <c:idx val="6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C2A-264F-AA96-1E5C823673CF}"/>
              </c:ext>
            </c:extLst>
          </c:dPt>
          <c:dPt>
            <c:idx val="7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C2A-264F-AA96-1E5C823673CF}"/>
              </c:ext>
            </c:extLst>
          </c:dPt>
          <c:dPt>
            <c:idx val="8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C2A-264F-AA96-1E5C823673CF}"/>
              </c:ext>
            </c:extLst>
          </c:dPt>
          <c:dPt>
            <c:idx val="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C2A-264F-AA96-1E5C823673CF}"/>
              </c:ext>
            </c:extLst>
          </c:dPt>
          <c:errBars>
            <c:errBarType val="both"/>
            <c:errValType val="cust"/>
            <c:noEndCap val="0"/>
            <c:plus>
              <c:numRef>
                <c:f>'CO2 6-28-23'!$AQ$44:$AQ$53</c:f>
                <c:numCache>
                  <c:formatCode>General</c:formatCode>
                  <c:ptCount val="10"/>
                  <c:pt idx="0">
                    <c:v>0.14486608905585049</c:v>
                  </c:pt>
                  <c:pt idx="1">
                    <c:v>1.0101259752023308E-2</c:v>
                  </c:pt>
                  <c:pt idx="2">
                    <c:v>2.0346838160236771E-2</c:v>
                  </c:pt>
                  <c:pt idx="3">
                    <c:v>0.1836750993279099</c:v>
                  </c:pt>
                  <c:pt idx="4">
                    <c:v>7.0249185379728254E-2</c:v>
                  </c:pt>
                  <c:pt idx="5">
                    <c:v>1.1678343754285805E-2</c:v>
                  </c:pt>
                  <c:pt idx="6">
                    <c:v>0.16104391772502291</c:v>
                  </c:pt>
                  <c:pt idx="7">
                    <c:v>0.10721009949391752</c:v>
                  </c:pt>
                  <c:pt idx="8">
                    <c:v>0.12919549264346336</c:v>
                  </c:pt>
                  <c:pt idx="9">
                    <c:v>0.18885674822164034</c:v>
                  </c:pt>
                </c:numCache>
              </c:numRef>
            </c:plus>
            <c:minus>
              <c:numRef>
                <c:f>'CO2 6-28-23'!$AQ$44:$AQ$53</c:f>
                <c:numCache>
                  <c:formatCode>General</c:formatCode>
                  <c:ptCount val="10"/>
                  <c:pt idx="0">
                    <c:v>0.14486608905585049</c:v>
                  </c:pt>
                  <c:pt idx="1">
                    <c:v>1.0101259752023308E-2</c:v>
                  </c:pt>
                  <c:pt idx="2">
                    <c:v>2.0346838160236771E-2</c:v>
                  </c:pt>
                  <c:pt idx="3">
                    <c:v>0.1836750993279099</c:v>
                  </c:pt>
                  <c:pt idx="4">
                    <c:v>7.0249185379728254E-2</c:v>
                  </c:pt>
                  <c:pt idx="5">
                    <c:v>1.1678343754285805E-2</c:v>
                  </c:pt>
                  <c:pt idx="6">
                    <c:v>0.16104391772502291</c:v>
                  </c:pt>
                  <c:pt idx="7">
                    <c:v>0.10721009949391752</c:v>
                  </c:pt>
                  <c:pt idx="8">
                    <c:v>0.12919549264346336</c:v>
                  </c:pt>
                  <c:pt idx="9">
                    <c:v>0.18885674822164034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'CO2 6-28-23'!$AN$56:$AN$65</c:f>
              <c:strCache>
                <c:ptCount val="10"/>
                <c:pt idx="0">
                  <c:v>No residue</c:v>
                </c:pt>
                <c:pt idx="1">
                  <c:v>Wheat</c:v>
                </c:pt>
                <c:pt idx="2">
                  <c:v>Clover</c:v>
                </c:pt>
                <c:pt idx="3">
                  <c:v>Wheat-clover mix</c:v>
                </c:pt>
                <c:pt idx="4">
                  <c:v>Five-species mix</c:v>
                </c:pt>
                <c:pt idx="5">
                  <c:v>No residue</c:v>
                </c:pt>
                <c:pt idx="6">
                  <c:v>Wheat</c:v>
                </c:pt>
                <c:pt idx="7">
                  <c:v>Clover</c:v>
                </c:pt>
                <c:pt idx="8">
                  <c:v>Wheat-clover mix</c:v>
                </c:pt>
                <c:pt idx="9">
                  <c:v>Five-species mix</c:v>
                </c:pt>
              </c:strCache>
            </c:strRef>
          </c:cat>
          <c:val>
            <c:numRef>
              <c:f>'CO2 6-28-23'!$AO$56:$AO$65</c:f>
              <c:numCache>
                <c:formatCode>General</c:formatCode>
                <c:ptCount val="10"/>
                <c:pt idx="0">
                  <c:v>0.33722977824734024</c:v>
                </c:pt>
                <c:pt idx="1">
                  <c:v>1.6399559597865785</c:v>
                </c:pt>
                <c:pt idx="2">
                  <c:v>0.83010048338721298</c:v>
                </c:pt>
                <c:pt idx="3">
                  <c:v>1.249312285075219</c:v>
                </c:pt>
                <c:pt idx="4">
                  <c:v>0.79895332815076914</c:v>
                </c:pt>
                <c:pt idx="5">
                  <c:v>8.9974119533463404E-2</c:v>
                </c:pt>
                <c:pt idx="6">
                  <c:v>0.74518062193242163</c:v>
                </c:pt>
                <c:pt idx="7">
                  <c:v>0.33550609380559487</c:v>
                </c:pt>
                <c:pt idx="8">
                  <c:v>0.47862743423480408</c:v>
                </c:pt>
                <c:pt idx="9">
                  <c:v>0.49940623209163892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C2A-264F-AA96-1E5C823673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2"/>
        <c:axId val="545825920"/>
        <c:axId val="2112217904"/>
      </c:barChart>
      <c:catAx>
        <c:axId val="545825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2217904"/>
        <c:crosses val="autoZero"/>
        <c:auto val="1"/>
        <c:lblAlgn val="ctr"/>
        <c:lblOffset val="100"/>
        <c:noMultiLvlLbl val="0"/>
      </c:catAx>
      <c:valAx>
        <c:axId val="2112217904"/>
        <c:scaling>
          <c:orientation val="minMax"/>
          <c:max val="5.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>
                    <a:solidFill>
                      <a:sysClr val="windowText" lastClr="000000"/>
                    </a:solidFill>
                  </a:rPr>
                  <a:t>CO</a:t>
                </a:r>
                <a:r>
                  <a:rPr lang="en-US" sz="1600" b="1" baseline="-25000">
                    <a:solidFill>
                      <a:sysClr val="windowText" lastClr="000000"/>
                    </a:solidFill>
                  </a:rPr>
                  <a:t>2</a:t>
                </a:r>
                <a:r>
                  <a:rPr lang="en-US" sz="1600" b="1">
                    <a:solidFill>
                      <a:sysClr val="windowText" lastClr="000000"/>
                    </a:solidFill>
                  </a:rPr>
                  <a:t>-C</a:t>
                </a:r>
                <a:r>
                  <a:rPr lang="en-US" sz="1600" b="1" baseline="0">
                    <a:solidFill>
                      <a:sysClr val="windowText" lastClr="000000"/>
                    </a:solidFill>
                  </a:rPr>
                  <a:t> (</a:t>
                </a:r>
                <a:r>
                  <a:rPr lang="en-US" sz="1600" b="1">
                    <a:solidFill>
                      <a:sysClr val="windowText" lastClr="000000"/>
                    </a:solidFill>
                  </a:rPr>
                  <a:t>µg-C g</a:t>
                </a:r>
                <a:r>
                  <a:rPr lang="en-US" sz="1600" b="1" baseline="30000">
                    <a:solidFill>
                      <a:sysClr val="windowText" lastClr="000000"/>
                    </a:solidFill>
                  </a:rPr>
                  <a:t>-1 </a:t>
                </a:r>
                <a:r>
                  <a:rPr lang="en-US" sz="1600" b="1">
                    <a:solidFill>
                      <a:sysClr val="windowText" lastClr="000000"/>
                    </a:solidFill>
                  </a:rPr>
                  <a:t>Dry soil hr</a:t>
                </a:r>
                <a:r>
                  <a:rPr lang="en-US" sz="1600" b="1" baseline="30000">
                    <a:solidFill>
                      <a:sysClr val="windowText" lastClr="000000"/>
                    </a:solidFill>
                  </a:rPr>
                  <a:t>-1</a:t>
                </a:r>
                <a:r>
                  <a:rPr lang="en-US" sz="1600" b="1">
                    <a:solidFill>
                      <a:sysClr val="windowText" lastClr="000000"/>
                    </a:solidFill>
                  </a:rPr>
                  <a:t>)</a:t>
                </a:r>
              </a:p>
            </c:rich>
          </c:tx>
          <c:layout>
            <c:manualLayout>
              <c:xMode val="edge"/>
              <c:yMode val="edge"/>
              <c:x val="1.3588964843406669E-2"/>
              <c:y val="0.2543205003638639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5825920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solidFill>
                  <a:sysClr val="windowText" lastClr="000000"/>
                </a:solidFill>
              </a:rPr>
              <a:t>CO</a:t>
            </a:r>
            <a:r>
              <a:rPr lang="en-US" sz="1400" b="1" baseline="-25000">
                <a:solidFill>
                  <a:sysClr val="windowText" lastClr="000000"/>
                </a:solidFill>
              </a:rPr>
              <a:t>2</a:t>
            </a:r>
            <a:r>
              <a:rPr lang="en-US" sz="1400" b="1" baseline="0">
                <a:solidFill>
                  <a:sysClr val="windowText" lastClr="000000"/>
                </a:solidFill>
              </a:rPr>
              <a:t> Emission: Day 10</a:t>
            </a:r>
            <a:r>
              <a:rPr lang="en-US" sz="1400" b="1" i="0" u="none" strike="noStrike" kern="1200" spc="0" baseline="0">
                <a:solidFill>
                  <a:sysClr val="windowText" lastClr="000000"/>
                </a:solidFill>
              </a:rPr>
              <a:t> after drought initiation</a:t>
            </a:r>
            <a:endParaRPr lang="en-US" sz="1400" b="1" baseline="0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72"/>
        <c:axId val="545825920"/>
        <c:axId val="2112217904"/>
      </c:barChart>
      <c:catAx>
        <c:axId val="545825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2217904"/>
        <c:crosses val="autoZero"/>
        <c:auto val="1"/>
        <c:lblAlgn val="ctr"/>
        <c:lblOffset val="100"/>
        <c:noMultiLvlLbl val="0"/>
      </c:catAx>
      <c:valAx>
        <c:axId val="2112217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>
                    <a:solidFill>
                      <a:sysClr val="windowText" lastClr="000000"/>
                    </a:solidFill>
                  </a:rPr>
                  <a:t>CO</a:t>
                </a:r>
                <a:r>
                  <a:rPr lang="en-US" sz="1600" b="1" baseline="-25000">
                    <a:solidFill>
                      <a:sysClr val="windowText" lastClr="000000"/>
                    </a:solidFill>
                  </a:rPr>
                  <a:t>2</a:t>
                </a:r>
                <a:r>
                  <a:rPr lang="en-US" sz="1600" b="1">
                    <a:solidFill>
                      <a:sysClr val="windowText" lastClr="000000"/>
                    </a:solidFill>
                  </a:rPr>
                  <a:t>-C</a:t>
                </a:r>
                <a:r>
                  <a:rPr lang="en-US" sz="1600" b="1" baseline="0">
                    <a:solidFill>
                      <a:sysClr val="windowText" lastClr="000000"/>
                    </a:solidFill>
                  </a:rPr>
                  <a:t> (</a:t>
                </a:r>
                <a:r>
                  <a:rPr lang="en-US" sz="1600" b="1">
                    <a:solidFill>
                      <a:sysClr val="windowText" lastClr="000000"/>
                    </a:solidFill>
                  </a:rPr>
                  <a:t>µg-C g</a:t>
                </a:r>
                <a:r>
                  <a:rPr lang="en-US" sz="1600" b="1" baseline="30000">
                    <a:solidFill>
                      <a:sysClr val="windowText" lastClr="000000"/>
                    </a:solidFill>
                  </a:rPr>
                  <a:t>-1 </a:t>
                </a:r>
                <a:r>
                  <a:rPr lang="en-US" sz="1600" b="1">
                    <a:solidFill>
                      <a:sysClr val="windowText" lastClr="000000"/>
                    </a:solidFill>
                  </a:rPr>
                  <a:t>Dry soil hr</a:t>
                </a:r>
                <a:r>
                  <a:rPr lang="en-US" sz="1600" b="1" baseline="30000">
                    <a:solidFill>
                      <a:sysClr val="windowText" lastClr="000000"/>
                    </a:solidFill>
                  </a:rPr>
                  <a:t>-1</a:t>
                </a:r>
                <a:r>
                  <a:rPr lang="en-US" sz="1600" b="1">
                    <a:solidFill>
                      <a:sysClr val="windowText" lastClr="000000"/>
                    </a:solidFill>
                  </a:rPr>
                  <a:t>)</a:t>
                </a:r>
              </a:p>
            </c:rich>
          </c:tx>
          <c:layout>
            <c:manualLayout>
              <c:xMode val="edge"/>
              <c:yMode val="edge"/>
              <c:x val="1.3588964843406669E-2"/>
              <c:y val="0.2543205003638639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5825920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solidFill>
                  <a:sysClr val="windowText" lastClr="000000"/>
                </a:solidFill>
              </a:rPr>
              <a:t>CO</a:t>
            </a:r>
            <a:r>
              <a:rPr lang="en-US" sz="1400" b="1" baseline="-25000">
                <a:solidFill>
                  <a:sysClr val="windowText" lastClr="000000"/>
                </a:solidFill>
              </a:rPr>
              <a:t>2</a:t>
            </a:r>
            <a:r>
              <a:rPr lang="en-US" sz="1400" b="1" baseline="0">
                <a:solidFill>
                  <a:sysClr val="windowText" lastClr="000000"/>
                </a:solidFill>
              </a:rPr>
              <a:t> Emission: Day 10</a:t>
            </a:r>
            <a:r>
              <a:rPr lang="en-US" sz="1400" b="1" i="0" u="none" strike="noStrike" kern="1200" spc="0" baseline="0">
                <a:solidFill>
                  <a:sysClr val="windowText" lastClr="000000"/>
                </a:solidFill>
              </a:rPr>
              <a:t> after drought initiation</a:t>
            </a:r>
            <a:endParaRPr lang="en-US" sz="1400" b="1" baseline="0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72"/>
        <c:axId val="545825920"/>
        <c:axId val="2112217904"/>
      </c:barChart>
      <c:catAx>
        <c:axId val="545825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2217904"/>
        <c:crosses val="autoZero"/>
        <c:auto val="1"/>
        <c:lblAlgn val="ctr"/>
        <c:lblOffset val="100"/>
        <c:noMultiLvlLbl val="0"/>
      </c:catAx>
      <c:valAx>
        <c:axId val="2112217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>
                    <a:solidFill>
                      <a:sysClr val="windowText" lastClr="000000"/>
                    </a:solidFill>
                  </a:rPr>
                  <a:t>CO</a:t>
                </a:r>
                <a:r>
                  <a:rPr lang="en-US" sz="1600" b="1" baseline="-25000">
                    <a:solidFill>
                      <a:sysClr val="windowText" lastClr="000000"/>
                    </a:solidFill>
                  </a:rPr>
                  <a:t>2</a:t>
                </a:r>
                <a:r>
                  <a:rPr lang="en-US" sz="1600" b="1">
                    <a:solidFill>
                      <a:sysClr val="windowText" lastClr="000000"/>
                    </a:solidFill>
                  </a:rPr>
                  <a:t>-C</a:t>
                </a:r>
                <a:r>
                  <a:rPr lang="en-US" sz="1600" b="1" baseline="0">
                    <a:solidFill>
                      <a:sysClr val="windowText" lastClr="000000"/>
                    </a:solidFill>
                  </a:rPr>
                  <a:t> (</a:t>
                </a:r>
                <a:r>
                  <a:rPr lang="en-US" sz="1600" b="1">
                    <a:solidFill>
                      <a:sysClr val="windowText" lastClr="000000"/>
                    </a:solidFill>
                  </a:rPr>
                  <a:t>µg-C g</a:t>
                </a:r>
                <a:r>
                  <a:rPr lang="en-US" sz="1600" b="1" baseline="30000">
                    <a:solidFill>
                      <a:sysClr val="windowText" lastClr="000000"/>
                    </a:solidFill>
                  </a:rPr>
                  <a:t>-1 </a:t>
                </a:r>
                <a:r>
                  <a:rPr lang="en-US" sz="1600" b="1">
                    <a:solidFill>
                      <a:sysClr val="windowText" lastClr="000000"/>
                    </a:solidFill>
                  </a:rPr>
                  <a:t>Dry soil hr</a:t>
                </a:r>
                <a:r>
                  <a:rPr lang="en-US" sz="1600" b="1" baseline="30000">
                    <a:solidFill>
                      <a:sysClr val="windowText" lastClr="000000"/>
                    </a:solidFill>
                  </a:rPr>
                  <a:t>-1</a:t>
                </a:r>
                <a:r>
                  <a:rPr lang="en-US" sz="1600" b="1">
                    <a:solidFill>
                      <a:sysClr val="windowText" lastClr="000000"/>
                    </a:solidFill>
                  </a:rPr>
                  <a:t>)</a:t>
                </a:r>
              </a:p>
            </c:rich>
          </c:tx>
          <c:layout>
            <c:manualLayout>
              <c:xMode val="edge"/>
              <c:yMode val="edge"/>
              <c:x val="1.3588964843406669E-2"/>
              <c:y val="0.2543205003638639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5825920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solidFill>
                  <a:sysClr val="windowText" lastClr="000000"/>
                </a:solidFill>
              </a:rPr>
              <a:t>CO</a:t>
            </a:r>
            <a:r>
              <a:rPr lang="en-US" sz="1400" b="1" baseline="-25000">
                <a:solidFill>
                  <a:sysClr val="windowText" lastClr="000000"/>
                </a:solidFill>
              </a:rPr>
              <a:t>2</a:t>
            </a:r>
            <a:r>
              <a:rPr lang="en-US" sz="1400" b="1" baseline="0">
                <a:solidFill>
                  <a:sysClr val="windowText" lastClr="000000"/>
                </a:solidFill>
              </a:rPr>
              <a:t> Emission: D</a:t>
            </a:r>
            <a:r>
              <a:rPr lang="en-US" sz="1400" b="1" i="0" u="none" strike="noStrike" kern="1200" spc="0" baseline="0">
                <a:solidFill>
                  <a:sysClr val="windowText" lastClr="000000"/>
                </a:solidFill>
              </a:rPr>
              <a:t>rought initiation</a:t>
            </a:r>
            <a:endParaRPr lang="en-US" sz="1400" b="1" baseline="0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899-0741-BA6B-A84E02ED62B1}"/>
              </c:ext>
            </c:extLst>
          </c:dPt>
          <c:dPt>
            <c:idx val="6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899-0741-BA6B-A84E02ED62B1}"/>
              </c:ext>
            </c:extLst>
          </c:dPt>
          <c:dPt>
            <c:idx val="7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899-0741-BA6B-A84E02ED62B1}"/>
              </c:ext>
            </c:extLst>
          </c:dPt>
          <c:dPt>
            <c:idx val="8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899-0741-BA6B-A84E02ED62B1}"/>
              </c:ext>
            </c:extLst>
          </c:dPt>
          <c:dPt>
            <c:idx val="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899-0741-BA6B-A84E02ED62B1}"/>
              </c:ext>
            </c:extLst>
          </c:dPt>
          <c:errBars>
            <c:errBarType val="both"/>
            <c:errValType val="cust"/>
            <c:noEndCap val="0"/>
            <c:plus>
              <c:numRef>
                <c:f>'CO2 6-1-23'!$AN$82:$AN$91</c:f>
                <c:numCache>
                  <c:formatCode>General</c:formatCode>
                  <c:ptCount val="10"/>
                  <c:pt idx="0">
                    <c:v>2.2792532042976269E-2</c:v>
                  </c:pt>
                  <c:pt idx="1">
                    <c:v>0.39894506976099015</c:v>
                  </c:pt>
                  <c:pt idx="2">
                    <c:v>0.23976030334428372</c:v>
                  </c:pt>
                  <c:pt idx="3">
                    <c:v>0.11366236464393555</c:v>
                  </c:pt>
                  <c:pt idx="4">
                    <c:v>7.005414911033328E-2</c:v>
                  </c:pt>
                  <c:pt idx="5">
                    <c:v>4.1437130742873141E-2</c:v>
                  </c:pt>
                  <c:pt idx="6">
                    <c:v>0.30810331406239899</c:v>
                  </c:pt>
                  <c:pt idx="7">
                    <c:v>8.8776374835568064E-2</c:v>
                  </c:pt>
                  <c:pt idx="8">
                    <c:v>6.6104665866937348E-2</c:v>
                  </c:pt>
                  <c:pt idx="9">
                    <c:v>0.11552437145770698</c:v>
                  </c:pt>
                </c:numCache>
              </c:numRef>
            </c:plus>
            <c:minus>
              <c:numRef>
                <c:f>'CO2 6-1-23'!$AN$82:$AN$91</c:f>
                <c:numCache>
                  <c:formatCode>General</c:formatCode>
                  <c:ptCount val="10"/>
                  <c:pt idx="0">
                    <c:v>2.2792532042976269E-2</c:v>
                  </c:pt>
                  <c:pt idx="1">
                    <c:v>0.39894506976099015</c:v>
                  </c:pt>
                  <c:pt idx="2">
                    <c:v>0.23976030334428372</c:v>
                  </c:pt>
                  <c:pt idx="3">
                    <c:v>0.11366236464393555</c:v>
                  </c:pt>
                  <c:pt idx="4">
                    <c:v>7.005414911033328E-2</c:v>
                  </c:pt>
                  <c:pt idx="5">
                    <c:v>4.1437130742873141E-2</c:v>
                  </c:pt>
                  <c:pt idx="6">
                    <c:v>0.30810331406239899</c:v>
                  </c:pt>
                  <c:pt idx="7">
                    <c:v>8.8776374835568064E-2</c:v>
                  </c:pt>
                  <c:pt idx="8">
                    <c:v>6.6104665866937348E-2</c:v>
                  </c:pt>
                  <c:pt idx="9">
                    <c:v>0.11552437145770698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'CO2 6-1-23'!$AL$82:$AL$91</c:f>
              <c:strCache>
                <c:ptCount val="10"/>
                <c:pt idx="0">
                  <c:v>No residue</c:v>
                </c:pt>
                <c:pt idx="1">
                  <c:v>Wheat</c:v>
                </c:pt>
                <c:pt idx="2">
                  <c:v>Clover</c:v>
                </c:pt>
                <c:pt idx="3">
                  <c:v>Wheat-clover mix</c:v>
                </c:pt>
                <c:pt idx="4">
                  <c:v>Five-species mix</c:v>
                </c:pt>
                <c:pt idx="5">
                  <c:v>No residue</c:v>
                </c:pt>
                <c:pt idx="6">
                  <c:v>Wheat</c:v>
                </c:pt>
                <c:pt idx="7">
                  <c:v>Clover</c:v>
                </c:pt>
                <c:pt idx="8">
                  <c:v>Wheat-clover mix</c:v>
                </c:pt>
                <c:pt idx="9">
                  <c:v>Five-species mix</c:v>
                </c:pt>
              </c:strCache>
            </c:strRef>
          </c:cat>
          <c:val>
            <c:numRef>
              <c:f>'CO2 6-1-23'!$AM$82:$AM$91</c:f>
              <c:numCache>
                <c:formatCode>General</c:formatCode>
                <c:ptCount val="10"/>
                <c:pt idx="0">
                  <c:v>0.55696162504424496</c:v>
                </c:pt>
                <c:pt idx="1">
                  <c:v>4.6749787313370099</c:v>
                </c:pt>
                <c:pt idx="2">
                  <c:v>3.8268393048184604</c:v>
                </c:pt>
                <c:pt idx="3">
                  <c:v>4.2929890233567383</c:v>
                </c:pt>
                <c:pt idx="4">
                  <c:v>3.7577842753348185</c:v>
                </c:pt>
                <c:pt idx="5">
                  <c:v>0.65946845519380914</c:v>
                </c:pt>
                <c:pt idx="6">
                  <c:v>4.8628597989019848</c:v>
                </c:pt>
                <c:pt idx="7">
                  <c:v>3.4764206136125466</c:v>
                </c:pt>
                <c:pt idx="8">
                  <c:v>4.2991447171701491</c:v>
                </c:pt>
                <c:pt idx="9">
                  <c:v>3.9114900530039995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899-0741-BA6B-A84E02ED62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2"/>
        <c:axId val="545825920"/>
        <c:axId val="2112217904"/>
      </c:barChart>
      <c:catAx>
        <c:axId val="545825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2217904"/>
        <c:crosses val="autoZero"/>
        <c:auto val="1"/>
        <c:lblAlgn val="ctr"/>
        <c:lblOffset val="100"/>
        <c:noMultiLvlLbl val="0"/>
      </c:catAx>
      <c:valAx>
        <c:axId val="2112217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>
                    <a:solidFill>
                      <a:sysClr val="windowText" lastClr="000000"/>
                    </a:solidFill>
                  </a:rPr>
                  <a:t>CO</a:t>
                </a:r>
                <a:r>
                  <a:rPr lang="en-US" sz="1600" b="1" baseline="-25000">
                    <a:solidFill>
                      <a:sysClr val="windowText" lastClr="000000"/>
                    </a:solidFill>
                  </a:rPr>
                  <a:t>2</a:t>
                </a:r>
                <a:r>
                  <a:rPr lang="en-US" sz="1600" b="1">
                    <a:solidFill>
                      <a:sysClr val="windowText" lastClr="000000"/>
                    </a:solidFill>
                  </a:rPr>
                  <a:t>-C</a:t>
                </a:r>
                <a:r>
                  <a:rPr lang="en-US" sz="1600" b="1" baseline="0">
                    <a:solidFill>
                      <a:sysClr val="windowText" lastClr="000000"/>
                    </a:solidFill>
                  </a:rPr>
                  <a:t> (</a:t>
                </a:r>
                <a:r>
                  <a:rPr lang="en-US" sz="1600" b="1">
                    <a:solidFill>
                      <a:sysClr val="windowText" lastClr="000000"/>
                    </a:solidFill>
                  </a:rPr>
                  <a:t>µg-C g</a:t>
                </a:r>
                <a:r>
                  <a:rPr lang="en-US" sz="1600" b="1" baseline="30000">
                    <a:solidFill>
                      <a:sysClr val="windowText" lastClr="000000"/>
                    </a:solidFill>
                  </a:rPr>
                  <a:t>-1 </a:t>
                </a:r>
                <a:r>
                  <a:rPr lang="en-US" sz="1600" b="1">
                    <a:solidFill>
                      <a:sysClr val="windowText" lastClr="000000"/>
                    </a:solidFill>
                  </a:rPr>
                  <a:t>Dry soil hr</a:t>
                </a:r>
                <a:r>
                  <a:rPr lang="en-US" sz="1600" b="1" baseline="30000">
                    <a:solidFill>
                      <a:sysClr val="windowText" lastClr="000000"/>
                    </a:solidFill>
                  </a:rPr>
                  <a:t>-1</a:t>
                </a:r>
                <a:r>
                  <a:rPr lang="en-US" sz="1600" b="1">
                    <a:solidFill>
                      <a:sysClr val="windowText" lastClr="000000"/>
                    </a:solidFill>
                  </a:rPr>
                  <a:t>)</a:t>
                </a:r>
              </a:p>
            </c:rich>
          </c:tx>
          <c:layout>
            <c:manualLayout>
              <c:xMode val="edge"/>
              <c:yMode val="edge"/>
              <c:x val="1.3588964843406669E-2"/>
              <c:y val="0.2543205003638639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5825920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BC2BF-8B1A-DE4A-A051-F2B0C11B3526}" type="datetimeFigureOut">
              <a:rPr lang="en-US" smtClean="0"/>
              <a:t>12/5/24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AD13C-5986-1A4A-90D0-82302261F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81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7E032-9295-744F-A742-740F43821E52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E1EA-C32E-C74D-B243-1BB4EF719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4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7E032-9295-744F-A742-740F43821E52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E1EA-C32E-C74D-B243-1BB4EF719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87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7E032-9295-744F-A742-740F43821E52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E1EA-C32E-C74D-B243-1BB4EF719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87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7E032-9295-744F-A742-740F43821E52}" type="datetimeFigureOut">
              <a:rPr lang="en-US" smtClean="0"/>
              <a:t>12/5/24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E1EA-C32E-C74D-B243-1BB4EF719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82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7E032-9295-744F-A742-740F43821E52}" type="datetimeFigureOut">
              <a:rPr lang="en-US" smtClean="0"/>
              <a:t>12/5/24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E1EA-C32E-C74D-B243-1BB4EF719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547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7E032-9295-744F-A742-740F43821E52}" type="datetimeFigureOut">
              <a:rPr lang="en-US" smtClean="0"/>
              <a:t>12/5/24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E1EA-C32E-C74D-B243-1BB4EF719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91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7E032-9295-744F-A742-740F43821E52}" type="datetimeFigureOut">
              <a:rPr lang="en-US" smtClean="0"/>
              <a:t>12/5/24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E1EA-C32E-C74D-B243-1BB4EF719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9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7E032-9295-744F-A742-740F43821E52}" type="datetimeFigureOut">
              <a:rPr lang="en-US" smtClean="0"/>
              <a:t>12/5/24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E1EA-C32E-C74D-B243-1BB4EF719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902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7E032-9295-744F-A742-740F43821E52}" type="datetimeFigureOut">
              <a:rPr lang="en-US" smtClean="0"/>
              <a:t>12/5/24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E1EA-C32E-C74D-B243-1BB4EF719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84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7E032-9295-744F-A742-740F43821E52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E1EA-C32E-C74D-B243-1BB4EF719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641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7E032-9295-744F-A742-740F43821E52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E1EA-C32E-C74D-B243-1BB4EF719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33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7E032-9295-744F-A742-740F43821E52}" type="datetimeFigureOut">
              <a:rPr lang="en-US" smtClean="0"/>
              <a:t>12/5/24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68E1EA-C32E-C74D-B243-1BB4EF719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08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chart" Target="../charts/chart5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262356DB-5623-9941-8B7F-11EA482B59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624544"/>
              </p:ext>
            </p:extLst>
          </p:nvPr>
        </p:nvGraphicFramePr>
        <p:xfrm>
          <a:off x="8301950" y="3962753"/>
          <a:ext cx="3915033" cy="55866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E6C71A76-53C0-C84B-9789-5E9D52A6DD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8488360"/>
              </p:ext>
            </p:extLst>
          </p:nvPr>
        </p:nvGraphicFramePr>
        <p:xfrm>
          <a:off x="4362726" y="3847841"/>
          <a:ext cx="3830508" cy="5701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A374556-24CF-2C10-514C-C9226143F3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480" y="0"/>
            <a:ext cx="6199112" cy="3719467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CFD705FD-697B-DA1F-2C3E-2905EDC37AF3}"/>
              </a:ext>
            </a:extLst>
          </p:cNvPr>
          <p:cNvSpPr/>
          <p:nvPr/>
        </p:nvSpPr>
        <p:spPr>
          <a:xfrm>
            <a:off x="4666178" y="2504661"/>
            <a:ext cx="145774" cy="145774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5-Point Star 6">
            <a:extLst>
              <a:ext uri="{FF2B5EF4-FFF2-40B4-BE49-F238E27FC236}">
                <a16:creationId xmlns:a16="http://schemas.microsoft.com/office/drawing/2014/main" id="{762B1F63-3164-7D91-114E-DAFE6BE68223}"/>
              </a:ext>
            </a:extLst>
          </p:cNvPr>
          <p:cNvSpPr/>
          <p:nvPr/>
        </p:nvSpPr>
        <p:spPr>
          <a:xfrm>
            <a:off x="6614288" y="2504661"/>
            <a:ext cx="145774" cy="145774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5-Point Star 7">
            <a:extLst>
              <a:ext uri="{FF2B5EF4-FFF2-40B4-BE49-F238E27FC236}">
                <a16:creationId xmlns:a16="http://schemas.microsoft.com/office/drawing/2014/main" id="{4FC46817-4EF7-3CAE-90FB-5E39D9DD5E35}"/>
              </a:ext>
            </a:extLst>
          </p:cNvPr>
          <p:cNvSpPr/>
          <p:nvPr/>
        </p:nvSpPr>
        <p:spPr>
          <a:xfrm>
            <a:off x="7071488" y="2504661"/>
            <a:ext cx="145774" cy="145774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3CE69D2-4CF7-D84E-A096-7D1CB4015D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9252411"/>
              </p:ext>
            </p:extLst>
          </p:nvPr>
        </p:nvGraphicFramePr>
        <p:xfrm>
          <a:off x="251997" y="3789939"/>
          <a:ext cx="4002012" cy="4898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C3CE69D2-4CF7-D84E-A096-7D1CB4015D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6632770"/>
              </p:ext>
            </p:extLst>
          </p:nvPr>
        </p:nvGraphicFramePr>
        <p:xfrm>
          <a:off x="447566" y="3847843"/>
          <a:ext cx="3830508" cy="55866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5BE6411-3C4C-AF99-54C7-FDC85AE2FC5D}"/>
              </a:ext>
            </a:extLst>
          </p:cNvPr>
          <p:cNvSpPr txBox="1"/>
          <p:nvPr/>
        </p:nvSpPr>
        <p:spPr>
          <a:xfrm>
            <a:off x="457268" y="3789939"/>
            <a:ext cx="456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31DD3F-E9DB-8583-B1CB-95798D514685}"/>
              </a:ext>
            </a:extLst>
          </p:cNvPr>
          <p:cNvSpPr txBox="1"/>
          <p:nvPr/>
        </p:nvSpPr>
        <p:spPr>
          <a:xfrm>
            <a:off x="4453573" y="3789939"/>
            <a:ext cx="456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5E3455-4665-C770-39FD-1F0177EEEC51}"/>
              </a:ext>
            </a:extLst>
          </p:cNvPr>
          <p:cNvSpPr txBox="1"/>
          <p:nvPr/>
        </p:nvSpPr>
        <p:spPr>
          <a:xfrm>
            <a:off x="8459514" y="3789939"/>
            <a:ext cx="456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C9895D-7D1B-FC67-5227-ABF554547106}"/>
              </a:ext>
            </a:extLst>
          </p:cNvPr>
          <p:cNvSpPr txBox="1"/>
          <p:nvPr/>
        </p:nvSpPr>
        <p:spPr>
          <a:xfrm>
            <a:off x="4513701" y="1982149"/>
            <a:ext cx="2975193" cy="593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                     B  C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C3CE69D2-4CF7-D84E-A096-7D1CB4015D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7397981"/>
              </p:ext>
            </p:extLst>
          </p:nvPr>
        </p:nvGraphicFramePr>
        <p:xfrm>
          <a:off x="457268" y="3880491"/>
          <a:ext cx="3867958" cy="56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836227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76</Words>
  <Application>Microsoft Macintosh PowerPoint</Application>
  <PresentationFormat>A3 Paper (297x420 mm)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Wooliver, Rachel</dc:creator>
  <cp:lastModifiedBy>Wooliver, Rachel</cp:lastModifiedBy>
  <cp:revision>4</cp:revision>
  <dcterms:created xsi:type="dcterms:W3CDTF">2024-12-05T21:24:07Z</dcterms:created>
  <dcterms:modified xsi:type="dcterms:W3CDTF">2024-12-05T21:49:50Z</dcterms:modified>
</cp:coreProperties>
</file>